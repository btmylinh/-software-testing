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9" r:id="rId10"/>
    <p:sldId id="270" r:id="rId11"/>
    <p:sldId id="273" r:id="rId12"/>
    <p:sldId id="274" r:id="rId13"/>
    <p:sldId id="266" r:id="rId14"/>
  </p:sldIdLst>
  <p:sldSz cx="18288000" cy="10287000"/>
  <p:notesSz cx="6858000" cy="9144000"/>
  <p:embeddedFontLst>
    <p:embeddedFont>
      <p:font typeface="Capriola" panose="020B0604020202020204" charset="0"/>
      <p:regular r:id="rId15"/>
    </p:embeddedFont>
    <p:embeddedFont>
      <p:font typeface="DejaVu Serif" panose="020B0604020202020204" charset="0"/>
      <p:regular r:id="rId16"/>
    </p:embeddedFont>
    <p:embeddedFont>
      <p:font typeface="More Sugar" panose="020B0604020202020204" charset="0"/>
      <p:regular r:id="rId17"/>
    </p:embeddedFont>
    <p:embeddedFont>
      <p:font typeface="Noto Sans Bold" panose="020B0604020202020204" charset="0"/>
      <p:regular r:id="rId18"/>
    </p:embeddedFont>
    <p:embeddedFont>
      <p:font typeface="Quicksand 1" panose="020B0604020202020204" charset="0"/>
      <p:regular r:id="rId19"/>
    </p:embeddedFont>
    <p:embeddedFont>
      <p:font typeface="Quicksand 1 Bold" panose="020B0604020202020204" charset="0"/>
      <p:regular r:id="rId20"/>
    </p:embeddedFont>
    <p:embeddedFont>
      <p:font typeface="Quicksand 2" panose="020B0604020202020204" charset="0"/>
      <p:regular r:id="rId21"/>
    </p:embeddedFont>
    <p:embeddedFont>
      <p:font typeface="Quicksand 2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svg"/><Relationship Id="rId15" Type="http://schemas.openxmlformats.org/officeDocument/2006/relationships/image" Target="../media/image15.png"/><Relationship Id="rId10" Type="http://schemas.openxmlformats.org/officeDocument/2006/relationships/image" Target="../media/image4.sv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5" Type="http://schemas.openxmlformats.org/officeDocument/2006/relationships/image" Target="../media/image17.jpe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18" Type="http://schemas.openxmlformats.org/officeDocument/2006/relationships/image" Target="../media/image21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17" Type="http://schemas.openxmlformats.org/officeDocument/2006/relationships/image" Target="../media/image20.pn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5" Type="http://schemas.openxmlformats.org/officeDocument/2006/relationships/image" Target="../media/image18.pn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5" Type="http://schemas.openxmlformats.org/officeDocument/2006/relationships/image" Target="../media/image22.pn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5" Type="http://schemas.openxmlformats.org/officeDocument/2006/relationships/image" Target="../media/image24.pn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5" Type="http://schemas.openxmlformats.org/officeDocument/2006/relationships/image" Target="../media/image26.pn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5" Type="http://schemas.openxmlformats.org/officeDocument/2006/relationships/image" Target="../media/image27.pn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5" Type="http://schemas.openxmlformats.org/officeDocument/2006/relationships/image" Target="../media/image29.pn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4.sv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1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image" Target="../media/image1.png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7.png"/><Relationship Id="rId5" Type="http://schemas.openxmlformats.org/officeDocument/2006/relationships/image" Target="../media/image32.svg"/><Relationship Id="rId15" Type="http://schemas.openxmlformats.org/officeDocument/2006/relationships/image" Target="../media/image9.png"/><Relationship Id="rId10" Type="http://schemas.openxmlformats.org/officeDocument/2006/relationships/image" Target="../media/image6.svg"/><Relationship Id="rId4" Type="http://schemas.openxmlformats.org/officeDocument/2006/relationships/image" Target="../media/image31.png"/><Relationship Id="rId9" Type="http://schemas.openxmlformats.org/officeDocument/2006/relationships/image" Target="../media/image5.png"/><Relationship Id="rId1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3605" y="6137897"/>
            <a:ext cx="5213177" cy="5213177"/>
          </a:xfrm>
          <a:custGeom>
            <a:avLst/>
            <a:gdLst/>
            <a:ahLst/>
            <a:cxnLst/>
            <a:rect l="l" t="t" r="r" b="b"/>
            <a:pathLst>
              <a:path w="5213177" h="5213177">
                <a:moveTo>
                  <a:pt x="0" y="0"/>
                </a:moveTo>
                <a:lnTo>
                  <a:pt x="5213177" y="0"/>
                </a:lnTo>
                <a:lnTo>
                  <a:pt x="5213177" y="5213177"/>
                </a:lnTo>
                <a:lnTo>
                  <a:pt x="0" y="5213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16475" y="-2085411"/>
            <a:ext cx="5213177" cy="5213177"/>
          </a:xfrm>
          <a:custGeom>
            <a:avLst/>
            <a:gdLst/>
            <a:ahLst/>
            <a:cxnLst/>
            <a:rect l="l" t="t" r="r" b="b"/>
            <a:pathLst>
              <a:path w="5213177" h="5213177">
                <a:moveTo>
                  <a:pt x="0" y="0"/>
                </a:moveTo>
                <a:lnTo>
                  <a:pt x="5213177" y="0"/>
                </a:lnTo>
                <a:lnTo>
                  <a:pt x="5213177" y="5213177"/>
                </a:lnTo>
                <a:lnTo>
                  <a:pt x="0" y="5213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61642" y="-233640"/>
            <a:ext cx="4806702" cy="3085029"/>
          </a:xfrm>
          <a:custGeom>
            <a:avLst/>
            <a:gdLst/>
            <a:ahLst/>
            <a:cxnLst/>
            <a:rect l="l" t="t" r="r" b="b"/>
            <a:pathLst>
              <a:path w="4806702" h="3085029">
                <a:moveTo>
                  <a:pt x="0" y="0"/>
                </a:moveTo>
                <a:lnTo>
                  <a:pt x="4806702" y="0"/>
                </a:lnTo>
                <a:lnTo>
                  <a:pt x="4806702" y="3085028"/>
                </a:lnTo>
                <a:lnTo>
                  <a:pt x="0" y="3085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2403351" y="8133543"/>
            <a:ext cx="4806702" cy="3085029"/>
          </a:xfrm>
          <a:custGeom>
            <a:avLst/>
            <a:gdLst/>
            <a:ahLst/>
            <a:cxnLst/>
            <a:rect l="l" t="t" r="r" b="b"/>
            <a:pathLst>
              <a:path w="4806702" h="3085029">
                <a:moveTo>
                  <a:pt x="4806702" y="3085029"/>
                </a:moveTo>
                <a:lnTo>
                  <a:pt x="0" y="3085029"/>
                </a:lnTo>
                <a:lnTo>
                  <a:pt x="0" y="0"/>
                </a:lnTo>
                <a:lnTo>
                  <a:pt x="4806702" y="0"/>
                </a:lnTo>
                <a:lnTo>
                  <a:pt x="4806702" y="30850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77698" y="3127766"/>
            <a:ext cx="1763203" cy="2103224"/>
          </a:xfrm>
          <a:custGeom>
            <a:avLst/>
            <a:gdLst/>
            <a:ahLst/>
            <a:cxnLst/>
            <a:rect l="l" t="t" r="r" b="b"/>
            <a:pathLst>
              <a:path w="1763203" h="2103224">
                <a:moveTo>
                  <a:pt x="0" y="0"/>
                </a:moveTo>
                <a:lnTo>
                  <a:pt x="1763204" y="0"/>
                </a:lnTo>
                <a:lnTo>
                  <a:pt x="1763204" y="2103224"/>
                </a:lnTo>
                <a:lnTo>
                  <a:pt x="0" y="2103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39815" y="8133543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58250" y="6137897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2173900" y="0"/>
                </a:moveTo>
                <a:lnTo>
                  <a:pt x="0" y="0"/>
                </a:lnTo>
                <a:lnTo>
                  <a:pt x="0" y="1791655"/>
                </a:lnTo>
                <a:lnTo>
                  <a:pt x="2173900" y="1791655"/>
                </a:lnTo>
                <a:lnTo>
                  <a:pt x="217390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4769950"/>
            <a:ext cx="16493277" cy="226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23181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CODE COVERAGE</a:t>
            </a:r>
          </a:p>
          <a:p>
            <a:pPr algn="ctr">
              <a:lnSpc>
                <a:spcPts val="9100"/>
              </a:lnSpc>
            </a:pPr>
            <a:endParaRPr lang="en-US" sz="6500" b="1" dirty="0">
              <a:solidFill>
                <a:srgbClr val="231815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7671350" y="250924"/>
            <a:ext cx="2600465" cy="2600465"/>
          </a:xfrm>
          <a:custGeom>
            <a:avLst/>
            <a:gdLst/>
            <a:ahLst/>
            <a:cxnLst/>
            <a:rect l="l" t="t" r="r" b="b"/>
            <a:pathLst>
              <a:path w="2600465" h="2600465">
                <a:moveTo>
                  <a:pt x="0" y="0"/>
                </a:moveTo>
                <a:lnTo>
                  <a:pt x="2600465" y="0"/>
                </a:lnTo>
                <a:lnTo>
                  <a:pt x="2600465" y="2600464"/>
                </a:lnTo>
                <a:lnTo>
                  <a:pt x="0" y="26004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21779" y="8011061"/>
            <a:ext cx="10287882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499" dirty="0">
                <a:solidFill>
                  <a:srgbClr val="231815"/>
                </a:solidFill>
                <a:latin typeface="Quicksand 1"/>
                <a:ea typeface="Quicksand 1"/>
                <a:cs typeface="Quicksand 1"/>
                <a:sym typeface="Quicksand 1"/>
              </a:rPr>
              <a:t>GIẢNG VIÊN: THS. PHẠM TRỌNG HUYNH</a:t>
            </a:r>
          </a:p>
          <a:p>
            <a:pPr algn="ctr">
              <a:lnSpc>
                <a:spcPts val="3499"/>
              </a:lnSpc>
            </a:pPr>
            <a:r>
              <a:rPr lang="en-US" sz="3499" dirty="0">
                <a:solidFill>
                  <a:srgbClr val="231815"/>
                </a:solidFill>
                <a:latin typeface="Quicksand 1"/>
                <a:ea typeface="Quicksand 1"/>
                <a:cs typeface="Quicksand 1"/>
                <a:sym typeface="Quicksand 1"/>
              </a:rPr>
              <a:t>Bùi </a:t>
            </a:r>
            <a:r>
              <a:rPr lang="en-US" sz="3499" dirty="0" err="1">
                <a:solidFill>
                  <a:srgbClr val="231815"/>
                </a:solidFill>
                <a:latin typeface="Quicksand 1"/>
                <a:ea typeface="Quicksand 1"/>
                <a:cs typeface="Quicksand 1"/>
                <a:sym typeface="Quicksand 1"/>
              </a:rPr>
              <a:t>Thị</a:t>
            </a:r>
            <a:r>
              <a:rPr lang="en-US" sz="3499" dirty="0">
                <a:solidFill>
                  <a:srgbClr val="231815"/>
                </a:solidFill>
                <a:latin typeface="Quicksand 1"/>
                <a:ea typeface="Quicksand 1"/>
                <a:cs typeface="Quicksand 1"/>
                <a:sym typeface="Quicksand 1"/>
              </a:rPr>
              <a:t> </a:t>
            </a:r>
            <a:r>
              <a:rPr lang="en-US" sz="3499" dirty="0" err="1">
                <a:solidFill>
                  <a:srgbClr val="231815"/>
                </a:solidFill>
                <a:latin typeface="Quicksand 1"/>
                <a:ea typeface="Quicksand 1"/>
                <a:cs typeface="Quicksand 1"/>
                <a:sym typeface="Quicksand 1"/>
              </a:rPr>
              <a:t>Mỹ</a:t>
            </a:r>
            <a:r>
              <a:rPr lang="en-US" sz="3499" dirty="0">
                <a:solidFill>
                  <a:srgbClr val="231815"/>
                </a:solidFill>
                <a:latin typeface="Quicksand 1"/>
                <a:ea typeface="Quicksand 1"/>
                <a:cs typeface="Quicksand 1"/>
                <a:sym typeface="Quicksand 1"/>
              </a:rPr>
              <a:t> Linh - 1150080145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35049" y="3061091"/>
            <a:ext cx="11680579" cy="105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Quicksand 1 Bold"/>
                <a:ea typeface="Quicksand 1 Bold"/>
                <a:cs typeface="Quicksand 1 Bold"/>
                <a:sym typeface="Quicksand 1 Bold"/>
              </a:rPr>
              <a:t>TRƯỜNG ĐẠI HỌC TÀI NGUYÊN VÀ MÔI TRƯỜNG TP.HCM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Quicksand 1 Bold"/>
                <a:ea typeface="Quicksand 1 Bold"/>
                <a:cs typeface="Quicksand 1 Bold"/>
                <a:sym typeface="Quicksand 1 Bold"/>
              </a:rPr>
              <a:t>KHOA CÔNG NGHỆ THÔNG 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27630">
            <a:off x="13844669" y="5844079"/>
            <a:ext cx="3186061" cy="3186061"/>
          </a:xfrm>
          <a:custGeom>
            <a:avLst/>
            <a:gdLst/>
            <a:ahLst/>
            <a:cxnLst/>
            <a:rect l="l" t="t" r="r" b="b"/>
            <a:pathLst>
              <a:path w="3186061" h="3186061">
                <a:moveTo>
                  <a:pt x="0" y="0"/>
                </a:moveTo>
                <a:lnTo>
                  <a:pt x="3186061" y="0"/>
                </a:lnTo>
                <a:lnTo>
                  <a:pt x="3186061" y="3186062"/>
                </a:lnTo>
                <a:lnTo>
                  <a:pt x="0" y="3186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78047" y="3729792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59"/>
                </a:lnTo>
                <a:lnTo>
                  <a:pt x="0" y="1766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123159">
            <a:off x="-187742" y="203682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7" y="0"/>
                </a:lnTo>
                <a:lnTo>
                  <a:pt x="3272897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263788" y="3195228"/>
            <a:ext cx="14440228" cy="5304301"/>
            <a:chOff x="0" y="0"/>
            <a:chExt cx="3803188" cy="13970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03188" cy="1397018"/>
            </a:xfrm>
            <a:custGeom>
              <a:avLst/>
              <a:gdLst/>
              <a:ahLst/>
              <a:cxnLst/>
              <a:rect l="l" t="t" r="r" b="b"/>
              <a:pathLst>
                <a:path w="3803188" h="1397018">
                  <a:moveTo>
                    <a:pt x="31096" y="0"/>
                  </a:moveTo>
                  <a:lnTo>
                    <a:pt x="3772092" y="0"/>
                  </a:lnTo>
                  <a:cubicBezTo>
                    <a:pt x="3780339" y="0"/>
                    <a:pt x="3788248" y="3276"/>
                    <a:pt x="3794080" y="9108"/>
                  </a:cubicBezTo>
                  <a:cubicBezTo>
                    <a:pt x="3799911" y="14939"/>
                    <a:pt x="3803188" y="22849"/>
                    <a:pt x="3803188" y="31096"/>
                  </a:cubicBezTo>
                  <a:lnTo>
                    <a:pt x="3803188" y="1365922"/>
                  </a:lnTo>
                  <a:cubicBezTo>
                    <a:pt x="3803188" y="1374169"/>
                    <a:pt x="3799911" y="1382078"/>
                    <a:pt x="3794080" y="1387910"/>
                  </a:cubicBezTo>
                  <a:cubicBezTo>
                    <a:pt x="3788248" y="1393741"/>
                    <a:pt x="3780339" y="1397018"/>
                    <a:pt x="3772092" y="1397018"/>
                  </a:cubicBezTo>
                  <a:lnTo>
                    <a:pt x="31096" y="1397018"/>
                  </a:lnTo>
                  <a:cubicBezTo>
                    <a:pt x="22849" y="1397018"/>
                    <a:pt x="14939" y="1393741"/>
                    <a:pt x="9108" y="1387910"/>
                  </a:cubicBezTo>
                  <a:cubicBezTo>
                    <a:pt x="3276" y="1382078"/>
                    <a:pt x="0" y="1374169"/>
                    <a:pt x="0" y="1365922"/>
                  </a:cubicBezTo>
                  <a:lnTo>
                    <a:pt x="0" y="31096"/>
                  </a:lnTo>
                  <a:cubicBezTo>
                    <a:pt x="0" y="22849"/>
                    <a:pt x="3276" y="14939"/>
                    <a:pt x="9108" y="9108"/>
                  </a:cubicBezTo>
                  <a:cubicBezTo>
                    <a:pt x="14939" y="3276"/>
                    <a:pt x="22849" y="0"/>
                    <a:pt x="3109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47057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803188" cy="1454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263800" y="6890316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5"/>
                </a:lnTo>
                <a:lnTo>
                  <a:pt x="0" y="1791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270122">
            <a:off x="15811279" y="7007801"/>
            <a:ext cx="2539119" cy="858619"/>
          </a:xfrm>
          <a:custGeom>
            <a:avLst/>
            <a:gdLst/>
            <a:ahLst/>
            <a:cxnLst/>
            <a:rect l="l" t="t" r="r" b="b"/>
            <a:pathLst>
              <a:path w="2539119" h="858619">
                <a:moveTo>
                  <a:pt x="0" y="0"/>
                </a:moveTo>
                <a:lnTo>
                  <a:pt x="2539119" y="0"/>
                </a:lnTo>
                <a:lnTo>
                  <a:pt x="2539119" y="858618"/>
                </a:lnTo>
                <a:lnTo>
                  <a:pt x="0" y="8586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3026" t="-318933"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3065218" y="1308837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0" y="0"/>
                </a:moveTo>
                <a:lnTo>
                  <a:pt x="0" y="0"/>
                </a:lnTo>
                <a:lnTo>
                  <a:pt x="0" y="1517662"/>
                </a:lnTo>
                <a:lnTo>
                  <a:pt x="1841450" y="1517662"/>
                </a:lnTo>
                <a:lnTo>
                  <a:pt x="18414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2898017" flipH="1">
            <a:off x="132450" y="2722588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19" y="0"/>
                </a:moveTo>
                <a:lnTo>
                  <a:pt x="0" y="0"/>
                </a:lnTo>
                <a:lnTo>
                  <a:pt x="0" y="2192924"/>
                </a:lnTo>
                <a:lnTo>
                  <a:pt x="2539119" y="2192924"/>
                </a:lnTo>
                <a:lnTo>
                  <a:pt x="2539119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888119" y="661758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-878207" y="8149796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2" y="2137204"/>
                </a:moveTo>
                <a:lnTo>
                  <a:pt x="0" y="2137204"/>
                </a:lnTo>
                <a:lnTo>
                  <a:pt x="0" y="0"/>
                </a:lnTo>
                <a:lnTo>
                  <a:pt x="3329922" y="0"/>
                </a:lnTo>
                <a:lnTo>
                  <a:pt x="3329922" y="2137204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76733" y="296788"/>
            <a:ext cx="1624336" cy="1905379"/>
          </a:xfrm>
          <a:custGeom>
            <a:avLst/>
            <a:gdLst/>
            <a:ahLst/>
            <a:cxnLst/>
            <a:rect l="l" t="t" r="r" b="b"/>
            <a:pathLst>
              <a:path w="1624336" h="1905379">
                <a:moveTo>
                  <a:pt x="0" y="0"/>
                </a:moveTo>
                <a:lnTo>
                  <a:pt x="1624336" y="0"/>
                </a:lnTo>
                <a:lnTo>
                  <a:pt x="1624336" y="1905379"/>
                </a:lnTo>
                <a:lnTo>
                  <a:pt x="0" y="19053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230831" y="1702947"/>
            <a:ext cx="4065484" cy="1123552"/>
          </a:xfrm>
          <a:custGeom>
            <a:avLst/>
            <a:gdLst/>
            <a:ahLst/>
            <a:cxnLst/>
            <a:rect l="l" t="t" r="r" b="b"/>
            <a:pathLst>
              <a:path w="4065484" h="1123552">
                <a:moveTo>
                  <a:pt x="0" y="0"/>
                </a:moveTo>
                <a:lnTo>
                  <a:pt x="4065484" y="0"/>
                </a:lnTo>
                <a:lnTo>
                  <a:pt x="4065484" y="1123552"/>
                </a:lnTo>
                <a:lnTo>
                  <a:pt x="0" y="11235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074022" y="5313013"/>
            <a:ext cx="4295409" cy="1187095"/>
          </a:xfrm>
          <a:custGeom>
            <a:avLst/>
            <a:gdLst/>
            <a:ahLst/>
            <a:cxnLst/>
            <a:rect l="l" t="t" r="r" b="b"/>
            <a:pathLst>
              <a:path w="4295409" h="1187095">
                <a:moveTo>
                  <a:pt x="0" y="0"/>
                </a:moveTo>
                <a:lnTo>
                  <a:pt x="4295409" y="0"/>
                </a:lnTo>
                <a:lnTo>
                  <a:pt x="4295409" y="1187095"/>
                </a:lnTo>
                <a:lnTo>
                  <a:pt x="0" y="11870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867579" y="5603001"/>
            <a:ext cx="4525333" cy="488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5"/>
              </a:lnSpc>
            </a:pPr>
            <a:r>
              <a:rPr lang="en-US" sz="2882" dirty="0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3. </a:t>
            </a:r>
            <a:r>
              <a:rPr lang="en-US" sz="2882" dirty="0" err="1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Thực</a:t>
            </a:r>
            <a:r>
              <a:rPr lang="en-US" sz="2882" dirty="0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 </a:t>
            </a:r>
            <a:r>
              <a:rPr lang="en-US" sz="2882" dirty="0" err="1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hiện</a:t>
            </a:r>
            <a:endParaRPr lang="en-US" sz="2882" dirty="0">
              <a:solidFill>
                <a:srgbClr val="231815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4733455" y="3729792"/>
            <a:ext cx="4065484" cy="1123552"/>
          </a:xfrm>
          <a:custGeom>
            <a:avLst/>
            <a:gdLst/>
            <a:ahLst/>
            <a:cxnLst/>
            <a:rect l="l" t="t" r="r" b="b"/>
            <a:pathLst>
              <a:path w="4065484" h="1123552">
                <a:moveTo>
                  <a:pt x="0" y="0"/>
                </a:moveTo>
                <a:lnTo>
                  <a:pt x="4065484" y="0"/>
                </a:lnTo>
                <a:lnTo>
                  <a:pt x="4065484" y="1123552"/>
                </a:lnTo>
                <a:lnTo>
                  <a:pt x="0" y="11235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095521" y="3949566"/>
            <a:ext cx="3328426" cy="53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533" lvl="1" indent="-332766" algn="ctr">
              <a:lnSpc>
                <a:spcPts val="4315"/>
              </a:lnSpc>
              <a:buAutoNum type="arabicPeriod"/>
            </a:pPr>
            <a:r>
              <a:rPr lang="en-US" sz="3082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TỔNG QUAN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0067" y="1868705"/>
            <a:ext cx="3387123" cy="574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8"/>
              </a:lnSpc>
            </a:pPr>
            <a:r>
              <a:rPr lang="en-US" sz="3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NỘI DUNG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011029" y="3686778"/>
            <a:ext cx="4065484" cy="1123552"/>
          </a:xfrm>
          <a:custGeom>
            <a:avLst/>
            <a:gdLst/>
            <a:ahLst/>
            <a:cxnLst/>
            <a:rect l="l" t="t" r="r" b="b"/>
            <a:pathLst>
              <a:path w="4065484" h="1123552">
                <a:moveTo>
                  <a:pt x="0" y="0"/>
                </a:moveTo>
                <a:lnTo>
                  <a:pt x="4065484" y="0"/>
                </a:lnTo>
                <a:lnTo>
                  <a:pt x="4065484" y="1123552"/>
                </a:lnTo>
                <a:lnTo>
                  <a:pt x="0" y="11235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011029" y="3860231"/>
            <a:ext cx="3979789" cy="53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3082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2. Công thức</a:t>
            </a: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76DD0B10-4743-9FF1-5C31-3F750C878582}"/>
              </a:ext>
            </a:extLst>
          </p:cNvPr>
          <p:cNvSpPr/>
          <p:nvPr/>
        </p:nvSpPr>
        <p:spPr>
          <a:xfrm>
            <a:off x="10217472" y="5313013"/>
            <a:ext cx="4295409" cy="1187095"/>
          </a:xfrm>
          <a:custGeom>
            <a:avLst/>
            <a:gdLst/>
            <a:ahLst/>
            <a:cxnLst/>
            <a:rect l="l" t="t" r="r" b="b"/>
            <a:pathLst>
              <a:path w="4295409" h="1187095">
                <a:moveTo>
                  <a:pt x="0" y="0"/>
                </a:moveTo>
                <a:lnTo>
                  <a:pt x="4295409" y="0"/>
                </a:lnTo>
                <a:lnTo>
                  <a:pt x="4295409" y="1187095"/>
                </a:lnTo>
                <a:lnTo>
                  <a:pt x="0" y="11870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5B89071E-F243-D36F-E289-86D623EFCF07}"/>
              </a:ext>
            </a:extLst>
          </p:cNvPr>
          <p:cNvSpPr txBox="1"/>
          <p:nvPr/>
        </p:nvSpPr>
        <p:spPr>
          <a:xfrm>
            <a:off x="10011029" y="5603001"/>
            <a:ext cx="4525333" cy="488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5"/>
              </a:lnSpc>
            </a:pPr>
            <a:r>
              <a:rPr lang="en-US" sz="2882" dirty="0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4. </a:t>
            </a:r>
            <a:r>
              <a:rPr lang="en-US" sz="2882" dirty="0" err="1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Kết</a:t>
            </a:r>
            <a:r>
              <a:rPr lang="en-US" sz="2882" dirty="0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 </a:t>
            </a:r>
            <a:r>
              <a:rPr lang="en-US" sz="2882" dirty="0" err="1">
                <a:solidFill>
                  <a:srgbClr val="231815"/>
                </a:solidFill>
                <a:latin typeface="Capriola"/>
                <a:ea typeface="Capriola"/>
                <a:cs typeface="Capriola"/>
                <a:sym typeface="Capriola"/>
              </a:rPr>
              <a:t>luận</a:t>
            </a:r>
            <a:endParaRPr lang="en-US" sz="2882" dirty="0">
              <a:solidFill>
                <a:srgbClr val="231815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012675" cy="1108958"/>
          </a:xfrm>
          <a:custGeom>
            <a:avLst/>
            <a:gdLst/>
            <a:ahLst/>
            <a:cxnLst/>
            <a:rect l="l" t="t" r="r" b="b"/>
            <a:pathLst>
              <a:path w="4012675" h="1108958">
                <a:moveTo>
                  <a:pt x="0" y="0"/>
                </a:moveTo>
                <a:lnTo>
                  <a:pt x="4012675" y="0"/>
                </a:lnTo>
                <a:lnTo>
                  <a:pt x="4012675" y="1108957"/>
                </a:lnTo>
                <a:lnTo>
                  <a:pt x="0" y="11089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38852" y="497323"/>
            <a:ext cx="3881260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839" lvl="1" indent="-366920" algn="ctr">
              <a:lnSpc>
                <a:spcPts val="3738"/>
              </a:lnSpc>
              <a:buAutoNum type="arabicPeriod"/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TỔNG QUAN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2734" y="1702661"/>
            <a:ext cx="15269566" cy="51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Tổng</a:t>
            </a: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</a:t>
            </a: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quan</a:t>
            </a: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- Code Coverage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là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thước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đo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trong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kiểm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thử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hộp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trắng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,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dùng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để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xác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định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mức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độ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code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đã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được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thực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thi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chạy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test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Quicksand 2"/>
              </a:rPr>
              <a:t>- </a:t>
            </a:r>
            <a:r>
              <a:rPr lang="en-US" sz="3199" dirty="0" err="1">
                <a:solidFill>
                  <a:srgbClr val="000000"/>
                </a:solidFill>
                <a:latin typeface="Quicksand 2"/>
              </a:rPr>
              <a:t>Công</a:t>
            </a:r>
            <a:r>
              <a:rPr lang="en-US" sz="3199" dirty="0">
                <a:solidFill>
                  <a:srgbClr val="000000"/>
                </a:solidFill>
                <a:latin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</a:rPr>
              <a:t>cụ</a:t>
            </a:r>
            <a:r>
              <a:rPr lang="en-US" sz="3199" dirty="0">
                <a:solidFill>
                  <a:srgbClr val="000000"/>
                </a:solidFill>
                <a:latin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</a:rPr>
              <a:t>sử</a:t>
            </a:r>
            <a:r>
              <a:rPr lang="en-US" sz="3199" dirty="0">
                <a:solidFill>
                  <a:srgbClr val="000000"/>
                </a:solidFill>
                <a:latin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</a:rPr>
              <a:t>dụng</a:t>
            </a:r>
            <a:r>
              <a:rPr lang="en-US" sz="3199" dirty="0">
                <a:solidFill>
                  <a:srgbClr val="000000"/>
                </a:solidFill>
                <a:latin typeface="Quicksand 2"/>
              </a:rPr>
              <a:t>: </a:t>
            </a:r>
            <a:r>
              <a:rPr lang="en-US" sz="3199" dirty="0" err="1">
                <a:solidFill>
                  <a:srgbClr val="000000"/>
                </a:solidFill>
                <a:latin typeface="Quicksand 2"/>
              </a:rPr>
              <a:t>JaCoCo</a:t>
            </a:r>
            <a:endParaRPr lang="en-US" sz="3199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-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Mục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tiêu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:</a:t>
            </a:r>
          </a:p>
          <a:p>
            <a:pPr marL="690879" lvl="1" indent="-345439" algn="just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Test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đã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bao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phủ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code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đến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đâu</a:t>
            </a:r>
            <a:endParaRPr lang="en-US" sz="3199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690879" lvl="1" indent="-345439" algn="just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Phát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hiện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phần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code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chưa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được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kiểm</a:t>
            </a:r>
            <a:r>
              <a:rPr lang="en-US" sz="3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thử</a:t>
            </a:r>
            <a:endParaRPr lang="en-US" sz="3199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C34A7C7F-535F-AD50-64CF-7E62BD98F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083" y="3245044"/>
            <a:ext cx="49530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012675" cy="1108958"/>
          </a:xfrm>
          <a:custGeom>
            <a:avLst/>
            <a:gdLst/>
            <a:ahLst/>
            <a:cxnLst/>
            <a:rect l="l" t="t" r="r" b="b"/>
            <a:pathLst>
              <a:path w="4012675" h="1108958">
                <a:moveTo>
                  <a:pt x="0" y="0"/>
                </a:moveTo>
                <a:lnTo>
                  <a:pt x="4012675" y="0"/>
                </a:lnTo>
                <a:lnTo>
                  <a:pt x="4012675" y="1108957"/>
                </a:lnTo>
                <a:lnTo>
                  <a:pt x="0" y="11089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38852" y="497323"/>
            <a:ext cx="3881260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2. CÔNG THỨC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1485" y="1613121"/>
            <a:ext cx="15269566" cy="4570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Công</a:t>
            </a: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</a:t>
            </a: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thức</a:t>
            </a: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</a:t>
            </a:r>
          </a:p>
          <a:p>
            <a:pPr marL="690879" lvl="1" indent="-345439" algn="just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Statement Coverage: Coverage (%) = (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câu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lệnh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đã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chạy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/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Tổng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câu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lệnh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) × 100%</a:t>
            </a:r>
          </a:p>
          <a:p>
            <a:pPr marL="690879" lvl="1" indent="-345439" algn="just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Branch Coverage: Coverage (%) = (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nhánh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đã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đi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qua /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Tổng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nhánh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) × 100%</a:t>
            </a:r>
          </a:p>
          <a:p>
            <a:pPr marL="690879" lvl="1" indent="-345439" algn="just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Condition Coverage: Coverage (%) = (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điều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kiện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đã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kiểm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tra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/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Tổng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điều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kiện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) × 100%</a:t>
            </a:r>
          </a:p>
          <a:p>
            <a:pPr marL="690879" lvl="1" indent="-345439" algn="just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Function Coverage: Coverage (%) = (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hàm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đã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gọi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/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Tổng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hàm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) × 100%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3199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FC321C-4FF1-2CC2-3D46-6EE130A56865}"/>
              </a:ext>
            </a:extLst>
          </p:cNvPr>
          <p:cNvSpPr txBox="1"/>
          <p:nvPr/>
        </p:nvSpPr>
        <p:spPr>
          <a:xfrm>
            <a:off x="2085959" y="4718660"/>
            <a:ext cx="15269566" cy="454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2400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Kỹ</a:t>
            </a:r>
            <a:r>
              <a:rPr lang="en-US" sz="2400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thuật</a:t>
            </a:r>
            <a:endParaRPr lang="en-US" sz="2400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Statement coverage (bao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phủ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câu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lệnh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)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Branch coverage (bao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phủ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nhánh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if/else)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Condition coverage (bao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phủ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điều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kiện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)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Path coverage (bao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phủ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đường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đi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–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nâng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cao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)</a:t>
            </a:r>
          </a:p>
          <a:p>
            <a:pPr algn="just">
              <a:lnSpc>
                <a:spcPts val="4479"/>
              </a:lnSpc>
            </a:pPr>
            <a:r>
              <a:rPr lang="en-US" sz="2400" b="1" dirty="0" err="1">
                <a:solidFill>
                  <a:srgbClr val="000000"/>
                </a:solidFill>
                <a:latin typeface="Quicksand 2 Bold"/>
                <a:sym typeface="Quicksand 2"/>
              </a:rPr>
              <a:t>Kết</a:t>
            </a:r>
            <a:r>
              <a:rPr lang="en-US" sz="2400" b="1" dirty="0">
                <a:solidFill>
                  <a:srgbClr val="000000"/>
                </a:solidFill>
                <a:latin typeface="Quicksand 2 Bold"/>
                <a:sym typeface="Quicksand 2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Quicksand 2 Bold"/>
                <a:sym typeface="Quicksand 2"/>
              </a:rPr>
              <a:t>hợp</a:t>
            </a:r>
            <a:r>
              <a:rPr lang="en-US" sz="2400" b="1" dirty="0">
                <a:solidFill>
                  <a:srgbClr val="000000"/>
                </a:solidFill>
                <a:latin typeface="Quicksand 2 Bold"/>
                <a:sym typeface="Quicksand 2"/>
              </a:rPr>
              <a:t>: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Viết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Unit Test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thiết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kế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test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Phân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vùng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tương</a:t>
            </a:r>
            <a:r>
              <a:rPr lang="en-US" sz="24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đương</a:t>
            </a:r>
            <a:endParaRPr lang="en-US" sz="24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806134" cy="1328241"/>
          </a:xfrm>
          <a:custGeom>
            <a:avLst/>
            <a:gdLst/>
            <a:ahLst/>
            <a:cxnLst/>
            <a:rect l="l" t="t" r="r" b="b"/>
            <a:pathLst>
              <a:path w="4806134" h="1328241">
                <a:moveTo>
                  <a:pt x="0" y="0"/>
                </a:moveTo>
                <a:lnTo>
                  <a:pt x="4806134" y="0"/>
                </a:lnTo>
                <a:lnTo>
                  <a:pt x="4806134" y="1328241"/>
                </a:lnTo>
                <a:lnTo>
                  <a:pt x="0" y="1328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9451" y="2299143"/>
            <a:ext cx="6248401" cy="4150147"/>
          </a:xfrm>
          <a:custGeom>
            <a:avLst/>
            <a:gdLst/>
            <a:ahLst/>
            <a:cxnLst/>
            <a:rect l="l" t="t" r="r" b="b"/>
            <a:pathLst>
              <a:path w="9502635" h="7352663">
                <a:moveTo>
                  <a:pt x="0" y="0"/>
                </a:moveTo>
                <a:lnTo>
                  <a:pt x="9502634" y="0"/>
                </a:lnTo>
                <a:lnTo>
                  <a:pt x="9502634" y="7352664"/>
                </a:lnTo>
                <a:lnTo>
                  <a:pt x="0" y="735266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w="3175">
            <a:solidFill>
              <a:schemeClr val="tx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338852" y="497323"/>
            <a:ext cx="501188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THỰC HIỆN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31485" y="1613121"/>
            <a:ext cx="15269566" cy="223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KẾ HOẠCH KIỂM THỬ PHẦN MỀM</a:t>
            </a:r>
          </a:p>
          <a:p>
            <a:pPr algn="just">
              <a:lnSpc>
                <a:spcPts val="4479"/>
              </a:lnSpc>
            </a:pP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algn="just">
              <a:lnSpc>
                <a:spcPts val="4479"/>
              </a:lnSpc>
            </a:pP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624368-5D94-9AEB-DB39-12924F2F9E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8024" y="2254304"/>
            <a:ext cx="5016240" cy="4305321"/>
          </a:xfrm>
          <a:prstGeom prst="rect">
            <a:avLst/>
          </a:prstGeom>
          <a:blipFill>
            <a:blip r:embed="rId15"/>
            <a:stretch>
              <a:fillRect/>
            </a:stretch>
          </a:blipFill>
          <a:ln w="317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4E45E7-8771-A084-DEA8-E81A0966BD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58646" y="2328236"/>
            <a:ext cx="4542577" cy="4305321"/>
          </a:xfrm>
          <a:prstGeom prst="rect">
            <a:avLst/>
          </a:prstGeom>
          <a:blipFill>
            <a:blip r:embed="rId15"/>
            <a:stretch>
              <a:fillRect/>
            </a:stretch>
          </a:blipFill>
          <a:ln w="31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ED0E6B-DE20-5783-9451-BD3F894059D2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3796"/>
          <a:stretch/>
        </p:blipFill>
        <p:spPr>
          <a:xfrm>
            <a:off x="2526652" y="6803395"/>
            <a:ext cx="6642748" cy="3231859"/>
          </a:xfrm>
          <a:prstGeom prst="rect">
            <a:avLst/>
          </a:prstGeom>
          <a:blipFill>
            <a:blip r:embed="rId15"/>
            <a:stretch>
              <a:fillRect/>
            </a:stretch>
          </a:blipFill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806134" cy="1328241"/>
          </a:xfrm>
          <a:custGeom>
            <a:avLst/>
            <a:gdLst/>
            <a:ahLst/>
            <a:cxnLst/>
            <a:rect l="l" t="t" r="r" b="b"/>
            <a:pathLst>
              <a:path w="4806134" h="1328241">
                <a:moveTo>
                  <a:pt x="0" y="0"/>
                </a:moveTo>
                <a:lnTo>
                  <a:pt x="4806134" y="0"/>
                </a:lnTo>
                <a:lnTo>
                  <a:pt x="4806134" y="1328241"/>
                </a:lnTo>
                <a:lnTo>
                  <a:pt x="0" y="1328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38852" y="497323"/>
            <a:ext cx="501188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THỰC HIỆN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1485" y="1613121"/>
            <a:ext cx="15269566" cy="591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CÁC TRƯỜNG HỢP KIỂM THỬ</a:t>
            </a:r>
          </a:p>
          <a:p>
            <a:pPr algn="just">
              <a:lnSpc>
                <a:spcPts val="4479"/>
              </a:lnSpc>
            </a:pP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KIỂM THỬ RÚT TIỀN</a:t>
            </a: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Rút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tiền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thành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tài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tồn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tại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, ACTIVE,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đủ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dư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tài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tồn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tại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tài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ACTIVE</a:t>
            </a: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tiền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≤ 0</a:t>
            </a: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vượt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quá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hạn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mức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rút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tiền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tiền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chia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hết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cho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50000</a:t>
            </a: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đủ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dư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vi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phạm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dư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thiểu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180914" y="2181742"/>
            <a:ext cx="15269566" cy="5315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KIỂM THỬ CHUYỂN KHOẢN</a:t>
            </a: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Chuyển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thành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giữa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hai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tài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hợp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lệ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request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rỗng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/ object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hợp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lệ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thiếu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field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bắt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buộc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chuyển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cho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chính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mình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tài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nguồn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tồn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tại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tài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đích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tồn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tại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tài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nguồn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ACTIVE</a:t>
            </a: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khác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currency</a:t>
            </a: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vượt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hạn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mức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chuyển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khoản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84" lvl="1" indent="-237492" algn="l">
              <a:lnSpc>
                <a:spcPts val="3080"/>
              </a:lnSpc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đủ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số</a:t>
            </a:r>
            <a:r>
              <a:rPr lang="en-US" sz="2200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dư</a:t>
            </a: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474979" lvl="1" indent="-237490" algn="l">
              <a:lnSpc>
                <a:spcPts val="3079"/>
              </a:lnSpc>
              <a:buAutoNum type="arabicPeriod"/>
            </a:pPr>
            <a:r>
              <a:rPr lang="en-US" sz="2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Từ</a:t>
            </a:r>
            <a:r>
              <a:rPr lang="en-US" sz="2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chối</a:t>
            </a:r>
            <a:r>
              <a:rPr lang="en-US" sz="2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khi</a:t>
            </a:r>
            <a:r>
              <a:rPr lang="en-US" sz="2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transfer mode </a:t>
            </a:r>
            <a:r>
              <a:rPr lang="en-US" sz="2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không</a:t>
            </a:r>
            <a:r>
              <a:rPr lang="en-US" sz="2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hợp</a:t>
            </a:r>
            <a:r>
              <a:rPr lang="en-US" sz="2199" dirty="0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Quicksand 2"/>
                <a:ea typeface="Quicksand 2"/>
                <a:cs typeface="Quicksand 2"/>
                <a:sym typeface="Quicksand 2"/>
              </a:rPr>
              <a:t>lệ</a:t>
            </a:r>
            <a:endParaRPr lang="en-US" sz="2199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806134" cy="1328241"/>
          </a:xfrm>
          <a:custGeom>
            <a:avLst/>
            <a:gdLst/>
            <a:ahLst/>
            <a:cxnLst/>
            <a:rect l="l" t="t" r="r" b="b"/>
            <a:pathLst>
              <a:path w="4806134" h="1328241">
                <a:moveTo>
                  <a:pt x="0" y="0"/>
                </a:moveTo>
                <a:lnTo>
                  <a:pt x="4806134" y="0"/>
                </a:lnTo>
                <a:lnTo>
                  <a:pt x="4806134" y="1328241"/>
                </a:lnTo>
                <a:lnTo>
                  <a:pt x="0" y="1328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12974" y="2308039"/>
            <a:ext cx="9778825" cy="4892861"/>
          </a:xfrm>
          <a:custGeom>
            <a:avLst/>
            <a:gdLst/>
            <a:ahLst/>
            <a:cxnLst/>
            <a:rect l="l" t="t" r="r" b="b"/>
            <a:pathLst>
              <a:path w="11301259" h="5198579">
                <a:moveTo>
                  <a:pt x="0" y="0"/>
                </a:moveTo>
                <a:lnTo>
                  <a:pt x="11301259" y="0"/>
                </a:lnTo>
                <a:lnTo>
                  <a:pt x="11301259" y="5198580"/>
                </a:lnTo>
                <a:lnTo>
                  <a:pt x="0" y="51985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94356" y="4262521"/>
            <a:ext cx="11301259" cy="5212706"/>
          </a:xfrm>
          <a:custGeom>
            <a:avLst/>
            <a:gdLst/>
            <a:ahLst/>
            <a:cxnLst/>
            <a:rect l="l" t="t" r="r" b="b"/>
            <a:pathLst>
              <a:path w="11301259" h="5212706">
                <a:moveTo>
                  <a:pt x="0" y="0"/>
                </a:moveTo>
                <a:lnTo>
                  <a:pt x="11301259" y="0"/>
                </a:lnTo>
                <a:lnTo>
                  <a:pt x="11301259" y="5212705"/>
                </a:lnTo>
                <a:lnTo>
                  <a:pt x="0" y="52127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38852" y="497323"/>
            <a:ext cx="501188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THỰC HIỆN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31485" y="1613121"/>
            <a:ext cx="15269566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Bang Quyet Dinh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806134" cy="1328241"/>
          </a:xfrm>
          <a:custGeom>
            <a:avLst/>
            <a:gdLst/>
            <a:ahLst/>
            <a:cxnLst/>
            <a:rect l="l" t="t" r="r" b="b"/>
            <a:pathLst>
              <a:path w="4806134" h="1328241">
                <a:moveTo>
                  <a:pt x="0" y="0"/>
                </a:moveTo>
                <a:lnTo>
                  <a:pt x="4806134" y="0"/>
                </a:lnTo>
                <a:lnTo>
                  <a:pt x="4806134" y="1328241"/>
                </a:lnTo>
                <a:lnTo>
                  <a:pt x="0" y="1328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9013" y="2176374"/>
            <a:ext cx="9522910" cy="5701842"/>
          </a:xfrm>
          <a:custGeom>
            <a:avLst/>
            <a:gdLst/>
            <a:ahLst/>
            <a:cxnLst/>
            <a:rect l="l" t="t" r="r" b="b"/>
            <a:pathLst>
              <a:path w="9522910" h="5701842">
                <a:moveTo>
                  <a:pt x="0" y="0"/>
                </a:moveTo>
                <a:lnTo>
                  <a:pt x="9522910" y="0"/>
                </a:lnTo>
                <a:lnTo>
                  <a:pt x="9522910" y="5701842"/>
                </a:lnTo>
                <a:lnTo>
                  <a:pt x="0" y="570184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160468" y="3467409"/>
            <a:ext cx="11301259" cy="5297465"/>
          </a:xfrm>
          <a:custGeom>
            <a:avLst/>
            <a:gdLst/>
            <a:ahLst/>
            <a:cxnLst/>
            <a:rect l="l" t="t" r="r" b="b"/>
            <a:pathLst>
              <a:path w="11301259" h="5297465">
                <a:moveTo>
                  <a:pt x="0" y="0"/>
                </a:moveTo>
                <a:lnTo>
                  <a:pt x="11301259" y="0"/>
                </a:lnTo>
                <a:lnTo>
                  <a:pt x="11301259" y="5297465"/>
                </a:lnTo>
                <a:lnTo>
                  <a:pt x="0" y="52974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38852" y="497323"/>
            <a:ext cx="501188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THỰC HIỆN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31485" y="1613121"/>
            <a:ext cx="15269566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Bang Quyet Dinh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806134" cy="1328241"/>
          </a:xfrm>
          <a:custGeom>
            <a:avLst/>
            <a:gdLst/>
            <a:ahLst/>
            <a:cxnLst/>
            <a:rect l="l" t="t" r="r" b="b"/>
            <a:pathLst>
              <a:path w="4806134" h="1328241">
                <a:moveTo>
                  <a:pt x="0" y="0"/>
                </a:moveTo>
                <a:lnTo>
                  <a:pt x="4806134" y="0"/>
                </a:lnTo>
                <a:lnTo>
                  <a:pt x="4806134" y="1328241"/>
                </a:lnTo>
                <a:lnTo>
                  <a:pt x="0" y="1328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38852" y="497323"/>
            <a:ext cx="501188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THỰC HIỆN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1484" y="1604810"/>
            <a:ext cx="15269566" cy="280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Kết</a:t>
            </a: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</a:t>
            </a: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quả</a:t>
            </a: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marL="345440" lvl="1" algn="just">
              <a:lnSpc>
                <a:spcPts val="4479"/>
              </a:lnSpc>
            </a:pP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DF3515-EDB1-C866-2582-6D02F5A474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6034" y="2241769"/>
            <a:ext cx="14289494" cy="3610479"/>
          </a:xfrm>
          <a:prstGeom prst="rect">
            <a:avLst/>
          </a:prstGeom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D52206E4-4003-7707-DDFA-25C9B45EED23}"/>
              </a:ext>
            </a:extLst>
          </p:cNvPr>
          <p:cNvSpPr txBox="1"/>
          <p:nvPr/>
        </p:nvSpPr>
        <p:spPr>
          <a:xfrm>
            <a:off x="2217806" y="5667680"/>
            <a:ext cx="15269566" cy="619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472" algn="just" rtl="0" eaLnBrk="1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Tổng</a:t>
            </a:r>
            <a:r>
              <a:rPr lang="en-US" sz="2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US" sz="2800" b="1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quan</a:t>
            </a:r>
            <a:r>
              <a:rPr lang="en-US" sz="2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coverage</a:t>
            </a:r>
            <a:endParaRPr lang="en-US" sz="44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Nội dung:</a:t>
            </a:r>
            <a:endParaRPr lang="en-US" sz="36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Sử dụng JaCoCo để đo coverage cho hệ thống </a:t>
            </a:r>
            <a:endParaRPr lang="en-US" sz="36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Tổng coverage: </a:t>
            </a:r>
            <a:endParaRPr lang="en-US" sz="3600" dirty="0">
              <a:effectLst/>
            </a:endParaRPr>
          </a:p>
          <a:p>
            <a:pPr marL="7406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Instruction: ~58% </a:t>
            </a:r>
            <a:endParaRPr lang="en-US" sz="3600" dirty="0">
              <a:effectLst/>
            </a:endParaRPr>
          </a:p>
          <a:p>
            <a:pPr marL="7406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Branch: ~63% </a:t>
            </a:r>
            <a:endParaRPr lang="en-US" sz="36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Tập trung kiểm thử 2 chức năng chính: </a:t>
            </a:r>
            <a:endParaRPr lang="en-US" sz="3600" dirty="0">
              <a:effectLst/>
            </a:endParaRPr>
          </a:p>
          <a:p>
            <a:pPr marL="7406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Withdraw (Rút tiền) </a:t>
            </a:r>
            <a:endParaRPr lang="en-US" sz="3600" dirty="0">
              <a:effectLst/>
            </a:endParaRPr>
          </a:p>
          <a:p>
            <a:pPr marL="7406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Transfer (Chuyển khoản) </a:t>
            </a:r>
            <a:endParaRPr lang="en-US" sz="36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Nhận xét:</a:t>
            </a:r>
            <a:endParaRPr lang="en-US" sz="36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Coverage tổng chưa cao do chưa test các chức năng phụ </a:t>
            </a:r>
            <a:endParaRPr lang="en-US" sz="36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Coverage tập trung chủ yếu ở service layer </a:t>
            </a:r>
            <a:endParaRPr lang="en-US" sz="3600" dirty="0">
              <a:effectLst/>
            </a:endParaRPr>
          </a:p>
          <a:p>
            <a:pPr marL="345440" lvl="1" algn="just">
              <a:lnSpc>
                <a:spcPts val="4479"/>
              </a:lnSpc>
            </a:pP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</p:spTree>
    <p:extLst>
      <p:ext uri="{BB962C8B-B14F-4D97-AF65-F5344CB8AC3E}">
        <p14:creationId xmlns:p14="http://schemas.microsoft.com/office/powerpoint/2010/main" val="4026413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806134" cy="1328241"/>
          </a:xfrm>
          <a:custGeom>
            <a:avLst/>
            <a:gdLst/>
            <a:ahLst/>
            <a:cxnLst/>
            <a:rect l="l" t="t" r="r" b="b"/>
            <a:pathLst>
              <a:path w="4806134" h="1328241">
                <a:moveTo>
                  <a:pt x="0" y="0"/>
                </a:moveTo>
                <a:lnTo>
                  <a:pt x="4806134" y="0"/>
                </a:lnTo>
                <a:lnTo>
                  <a:pt x="4806134" y="1328241"/>
                </a:lnTo>
                <a:lnTo>
                  <a:pt x="0" y="1328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38852" y="497323"/>
            <a:ext cx="501188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THỰC HIỆN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1484" y="1604810"/>
            <a:ext cx="15269566" cy="280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Kết</a:t>
            </a: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</a:t>
            </a: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quả</a:t>
            </a: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marL="345440" lvl="1" algn="just">
              <a:lnSpc>
                <a:spcPts val="4479"/>
              </a:lnSpc>
            </a:pP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D52206E4-4003-7707-DDFA-25C9B45EED23}"/>
              </a:ext>
            </a:extLst>
          </p:cNvPr>
          <p:cNvSpPr txBox="1"/>
          <p:nvPr/>
        </p:nvSpPr>
        <p:spPr>
          <a:xfrm>
            <a:off x="2217806" y="5667680"/>
            <a:ext cx="15269566" cy="621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472" algn="just" rtl="0" eaLnBrk="1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err="1"/>
              <a:t>Kiểm</a:t>
            </a:r>
            <a:r>
              <a:rPr lang="en-US" sz="2800" b="1" dirty="0"/>
              <a:t> </a:t>
            </a:r>
            <a:r>
              <a:rPr lang="en-US" sz="2800" b="1" dirty="0" err="1"/>
              <a:t>thử</a:t>
            </a:r>
            <a:r>
              <a:rPr lang="en-US" sz="2800" b="1" dirty="0"/>
              <a:t> </a:t>
            </a:r>
            <a:r>
              <a:rPr lang="en-US" sz="2800" b="1" dirty="0" err="1"/>
              <a:t>chức</a:t>
            </a:r>
            <a:r>
              <a:rPr lang="en-US" sz="2800" b="1" dirty="0"/>
              <a:t> </a:t>
            </a:r>
            <a:r>
              <a:rPr lang="en-US" sz="2800" b="1" dirty="0" err="1"/>
              <a:t>năng</a:t>
            </a:r>
            <a:r>
              <a:rPr lang="en-US" sz="2800" b="1" dirty="0"/>
              <a:t> RÚT TIỀN</a:t>
            </a:r>
          </a:p>
          <a:p>
            <a:pPr marL="347472" algn="just" rtl="0" eaLnBrk="1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Nội dung:</a:t>
            </a:r>
            <a:endParaRPr lang="en-US" sz="3600" dirty="0">
              <a:effectLst/>
            </a:endParaRPr>
          </a:p>
          <a:p>
            <a:pPr marL="3429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Sử dụng JaCoCo để đo coverage cho hệ thống </a:t>
            </a:r>
            <a:endParaRPr lang="en-US" sz="3600" dirty="0">
              <a:effectLst/>
            </a:endParaRPr>
          </a:p>
          <a:p>
            <a:pPr marL="3429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Tổng coverage: </a:t>
            </a:r>
            <a:endParaRPr lang="en-US" sz="3600" dirty="0">
              <a:effectLst/>
            </a:endParaRPr>
          </a:p>
          <a:p>
            <a:pPr marL="8001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Instruction: ~58% </a:t>
            </a:r>
            <a:endParaRPr lang="en-US" sz="3600" dirty="0">
              <a:effectLst/>
            </a:endParaRPr>
          </a:p>
          <a:p>
            <a:pPr marL="8001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Branch: ~63% </a:t>
            </a:r>
            <a:endParaRPr lang="en-US" sz="3600" dirty="0">
              <a:effectLst/>
            </a:endParaRPr>
          </a:p>
          <a:p>
            <a:pPr marL="3429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Tập trung kiểm thử 2 chức năng chính: </a:t>
            </a:r>
            <a:endParaRPr lang="en-US" sz="3600" dirty="0">
              <a:effectLst/>
            </a:endParaRPr>
          </a:p>
          <a:p>
            <a:pPr marL="8001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Withdraw (Rút tiền) </a:t>
            </a:r>
            <a:endParaRPr lang="en-US" sz="3600" dirty="0">
              <a:effectLst/>
            </a:endParaRPr>
          </a:p>
          <a:p>
            <a:pPr marL="8001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Transfer (Chuyển khoản) </a:t>
            </a:r>
            <a:endParaRPr lang="en-US" sz="36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vi-VN" sz="2000" kern="1200" dirty="0">
                <a:solidFill>
                  <a:srgbClr val="000000"/>
                </a:solidFill>
                <a:effectLst/>
                <a:latin typeface="Quicksand 2" panose="020B0604020202020204" charset="0"/>
                <a:ea typeface="+mn-ea"/>
                <a:cs typeface="+mn-cs"/>
              </a:rPr>
              <a:t>Nhận xét:</a:t>
            </a:r>
            <a:endParaRPr lang="en-US" sz="36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Bao phủ gần hết các nhánh điều kiện (if/else) </a:t>
            </a:r>
          </a:p>
          <a:p>
            <a:pPr marL="345440" lvl="1" algn="just">
              <a:lnSpc>
                <a:spcPts val="4479"/>
              </a:lnSpc>
            </a:pP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957031-39EC-52CC-0F9C-BC501BEF9D0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1747" y="2268723"/>
            <a:ext cx="5687219" cy="25911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61BF095-5F0C-2ECA-4C0D-9A2487D98A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96400" y="1911405"/>
            <a:ext cx="8070062" cy="762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04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806134" cy="1328241"/>
          </a:xfrm>
          <a:custGeom>
            <a:avLst/>
            <a:gdLst/>
            <a:ahLst/>
            <a:cxnLst/>
            <a:rect l="l" t="t" r="r" b="b"/>
            <a:pathLst>
              <a:path w="4806134" h="1328241">
                <a:moveTo>
                  <a:pt x="0" y="0"/>
                </a:moveTo>
                <a:lnTo>
                  <a:pt x="4806134" y="0"/>
                </a:lnTo>
                <a:lnTo>
                  <a:pt x="4806134" y="1328241"/>
                </a:lnTo>
                <a:lnTo>
                  <a:pt x="0" y="1328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38852" y="497323"/>
            <a:ext cx="501188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THỰC HIỆN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1484" y="1604810"/>
            <a:ext cx="15269566" cy="280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Kết</a:t>
            </a: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</a:t>
            </a: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quả</a:t>
            </a: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marL="345440" lvl="1" algn="just">
              <a:lnSpc>
                <a:spcPts val="4479"/>
              </a:lnSpc>
            </a:pP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D52206E4-4003-7707-DDFA-25C9B45EED23}"/>
              </a:ext>
            </a:extLst>
          </p:cNvPr>
          <p:cNvSpPr txBox="1"/>
          <p:nvPr/>
        </p:nvSpPr>
        <p:spPr>
          <a:xfrm>
            <a:off x="2294339" y="4686300"/>
            <a:ext cx="15269566" cy="613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472" algn="just">
              <a:lnSpc>
                <a:spcPts val="4479"/>
              </a:lnSpc>
            </a:pPr>
            <a:r>
              <a:rPr lang="en-US" sz="2800" b="1" dirty="0" err="1"/>
              <a:t>Kiểm</a:t>
            </a:r>
            <a:r>
              <a:rPr lang="en-US" sz="2800" b="1" dirty="0"/>
              <a:t> </a:t>
            </a:r>
            <a:r>
              <a:rPr lang="en-US" sz="2800" b="1" dirty="0" err="1"/>
              <a:t>thử</a:t>
            </a:r>
            <a:r>
              <a:rPr lang="en-US" sz="2800" b="1" dirty="0"/>
              <a:t> </a:t>
            </a:r>
            <a:r>
              <a:rPr lang="en-US" sz="2800" b="1" dirty="0" err="1"/>
              <a:t>chức</a:t>
            </a:r>
            <a:r>
              <a:rPr lang="en-US" sz="2800" b="1" dirty="0"/>
              <a:t> </a:t>
            </a:r>
            <a:r>
              <a:rPr lang="en-US" sz="2800" b="1" dirty="0" err="1"/>
              <a:t>năng</a:t>
            </a:r>
            <a:r>
              <a:rPr lang="en-US" sz="2800" b="1" dirty="0"/>
              <a:t> CHUYỂN KHOẢN</a:t>
            </a:r>
            <a:endParaRPr lang="en-US" sz="2400" dirty="0">
              <a:solidFill>
                <a:srgbClr val="000000"/>
              </a:solidFill>
              <a:latin typeface="Quicksand 2"/>
            </a:endParaRPr>
          </a:p>
          <a:p>
            <a:pPr marL="347472" algn="just" rtl="0" eaLnBrk="1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Nội dung:</a:t>
            </a:r>
            <a:endParaRPr lang="en-US" sz="2400" dirty="0">
              <a:solidFill>
                <a:srgbClr val="000000"/>
              </a:solidFill>
              <a:latin typeface="Quicksand 2"/>
            </a:endParaRPr>
          </a:p>
          <a:p>
            <a:pPr marL="690372" indent="-342900" algn="just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Quicksand 2"/>
              </a:rPr>
              <a:t>Method: transfer()</a:t>
            </a:r>
          </a:p>
          <a:p>
            <a:r>
              <a:rPr lang="vi-VN" sz="2400" dirty="0">
                <a:solidFill>
                  <a:srgbClr val="000000"/>
                </a:solidFill>
                <a:latin typeface="Quicksand 2"/>
              </a:rPr>
              <a:t>Nhận xét: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Bao phủ các rule nghiệp vụ chính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Một số nhánh vẫn chưa được test hết</a:t>
            </a:r>
            <a:endParaRPr lang="en-US" sz="2400" dirty="0">
              <a:solidFill>
                <a:srgbClr val="000000"/>
              </a:solidFill>
              <a:latin typeface="Quicksand 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Quicksand 2"/>
              </a:rPr>
              <a:t>-&gt;</a:t>
            </a:r>
            <a:r>
              <a:rPr lang="vi-VN" sz="2400" dirty="0">
                <a:solidFill>
                  <a:srgbClr val="000000"/>
                </a:solidFill>
                <a:latin typeface="Quicksand 2"/>
              </a:rPr>
              <a:t> coverage chưa đạt 100%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Hướng cải thiện: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Bổ sung test cho: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Các nhánh còn thiếu (edge cases)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Kiểm thử branch sâu hơn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Mục tiêu nâng coverage lên ≥ 80%</a:t>
            </a:r>
            <a:endParaRPr lang="en-US" sz="2400" dirty="0">
              <a:solidFill>
                <a:srgbClr val="000000"/>
              </a:solidFill>
              <a:latin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400" dirty="0">
              <a:solidFill>
                <a:srgbClr val="000000"/>
              </a:solidFill>
              <a:latin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048E281-930D-C321-F795-09B60B8388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09057" y="1072852"/>
            <a:ext cx="6392167" cy="88880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93136F-018C-A477-B8DB-64211EAE5F6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0579" y="2680802"/>
            <a:ext cx="8276112" cy="17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5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1050" y="4838264"/>
            <a:ext cx="1480966" cy="1766560"/>
          </a:xfrm>
          <a:custGeom>
            <a:avLst/>
            <a:gdLst/>
            <a:ahLst/>
            <a:cxnLst/>
            <a:rect l="l" t="t" r="r" b="b"/>
            <a:pathLst>
              <a:path w="1480966" h="1766560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3159">
            <a:off x="-1636449" y="3900008"/>
            <a:ext cx="3272897" cy="3272897"/>
          </a:xfrm>
          <a:custGeom>
            <a:avLst/>
            <a:gdLst/>
            <a:ahLst/>
            <a:cxnLst/>
            <a:rect l="l" t="t" r="r" b="b"/>
            <a:pathLst>
              <a:path w="3272897" h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4101" y="8764874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78288" y="-23386"/>
            <a:ext cx="1841451" cy="1517662"/>
          </a:xfrm>
          <a:custGeom>
            <a:avLst/>
            <a:gdLst/>
            <a:ahLst/>
            <a:cxnLst/>
            <a:rect l="l" t="t" r="r" b="b"/>
            <a:pathLst>
              <a:path w="1841451" h="1517662">
                <a:moveTo>
                  <a:pt x="1841451" y="0"/>
                </a:moveTo>
                <a:lnTo>
                  <a:pt x="0" y="0"/>
                </a:lnTo>
                <a:lnTo>
                  <a:pt x="0" y="1517663"/>
                </a:lnTo>
                <a:lnTo>
                  <a:pt x="1841451" y="1517663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98017" flipH="1">
            <a:off x="-431516" y="4766130"/>
            <a:ext cx="2539119" cy="2192923"/>
          </a:xfrm>
          <a:custGeom>
            <a:avLst/>
            <a:gdLst/>
            <a:ahLst/>
            <a:cxnLst/>
            <a:rect l="l" t="t" r="r" b="b"/>
            <a:pathLst>
              <a:path w="2539119" h="2192923">
                <a:moveTo>
                  <a:pt x="2539120" y="0"/>
                </a:moveTo>
                <a:lnTo>
                  <a:pt x="0" y="0"/>
                </a:lnTo>
                <a:lnTo>
                  <a:pt x="0" y="2192923"/>
                </a:lnTo>
                <a:lnTo>
                  <a:pt x="2539120" y="2192923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8"/>
            <a:stretch>
              <a:fillRect r="-203026" b="-640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0639" y="291582"/>
            <a:ext cx="3141788" cy="2016457"/>
          </a:xfrm>
          <a:custGeom>
            <a:avLst/>
            <a:gdLst/>
            <a:ahLst/>
            <a:cxnLst/>
            <a:rect l="l" t="t" r="r" b="b"/>
            <a:pathLst>
              <a:path w="3141788" h="2016457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115744" y="8419325"/>
            <a:ext cx="3329921" cy="2137204"/>
          </a:xfrm>
          <a:custGeom>
            <a:avLst/>
            <a:gdLst/>
            <a:ahLst/>
            <a:cxnLst/>
            <a:rect l="l" t="t" r="r" b="b"/>
            <a:pathLst>
              <a:path w="3329921" h="2137204">
                <a:moveTo>
                  <a:pt x="3329921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38852" y="291582"/>
            <a:ext cx="4806134" cy="1328241"/>
          </a:xfrm>
          <a:custGeom>
            <a:avLst/>
            <a:gdLst/>
            <a:ahLst/>
            <a:cxnLst/>
            <a:rect l="l" t="t" r="r" b="b"/>
            <a:pathLst>
              <a:path w="4806134" h="1328241">
                <a:moveTo>
                  <a:pt x="0" y="0"/>
                </a:moveTo>
                <a:lnTo>
                  <a:pt x="4806134" y="0"/>
                </a:lnTo>
                <a:lnTo>
                  <a:pt x="4806134" y="1328241"/>
                </a:lnTo>
                <a:lnTo>
                  <a:pt x="0" y="1328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38852" y="497323"/>
            <a:ext cx="5011882" cy="4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3398" dirty="0">
                <a:solidFill>
                  <a:srgbClr val="C47057"/>
                </a:solidFill>
                <a:latin typeface="DejaVu Serif"/>
                <a:ea typeface="DejaVu Serif"/>
                <a:cs typeface="DejaVu Serif"/>
                <a:sym typeface="DejaVu Serif"/>
              </a:rPr>
              <a:t>KẾT LUẬN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1485" y="1613121"/>
            <a:ext cx="15269566" cy="629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Kết</a:t>
            </a:r>
            <a:r>
              <a:rPr lang="en-US" sz="3199" b="1" dirty="0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 </a:t>
            </a:r>
            <a:r>
              <a:rPr lang="en-US" sz="3199" b="1" dirty="0" err="1">
                <a:solidFill>
                  <a:srgbClr val="000000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luận</a:t>
            </a:r>
            <a:endParaRPr lang="en-US" sz="3199" b="1" dirty="0">
              <a:solidFill>
                <a:srgbClr val="000000"/>
              </a:solidFill>
              <a:latin typeface="Quicksand 2 Bold"/>
              <a:ea typeface="Quicksand 2 Bold"/>
              <a:cs typeface="Quicksand 2 Bold"/>
              <a:sym typeface="Quicksand 2 Bold"/>
            </a:endParaRPr>
          </a:p>
          <a:p>
            <a:r>
              <a:rPr lang="vi-VN" sz="2400" b="1" dirty="0">
                <a:solidFill>
                  <a:srgbClr val="000000"/>
                </a:solidFill>
                <a:latin typeface="Quicksand 2"/>
              </a:rPr>
              <a:t>Nội dung: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Đã sử dụng JaCoCo để đánh giá mức độ bao phủ test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Tập trung kiểm thử 2 chức năng chính: </a:t>
            </a:r>
          </a:p>
          <a:p>
            <a:pPr marL="457200" lvl="2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Rút tiền (Withdraw) </a:t>
            </a:r>
          </a:p>
          <a:p>
            <a:pPr marL="457200" lvl="2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Chuyển khoản (Transfer) </a:t>
            </a:r>
          </a:p>
          <a:p>
            <a:r>
              <a:rPr lang="vi-VN" sz="2400" b="1" dirty="0">
                <a:solidFill>
                  <a:srgbClr val="000000"/>
                </a:solidFill>
                <a:latin typeface="Quicksand 2"/>
              </a:rPr>
              <a:t>Kết quả đạt được: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Chức năng Withdraw: coverage cao (~100%), bao phủ hầu hết các nhánh logic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Chức năng Transfer: đã kiểm thử các nghiệp vụ chính nhưng vẫn còn thiếu một số nhánh </a:t>
            </a:r>
          </a:p>
          <a:p>
            <a:r>
              <a:rPr lang="en-US" sz="2400" b="1" dirty="0">
                <a:solidFill>
                  <a:srgbClr val="000000"/>
                </a:solidFill>
                <a:latin typeface="Quicksand 2"/>
              </a:rPr>
              <a:t>H</a:t>
            </a:r>
            <a:r>
              <a:rPr lang="vi-VN" sz="2400" b="1" dirty="0">
                <a:solidFill>
                  <a:srgbClr val="000000"/>
                </a:solidFill>
                <a:latin typeface="Quicksand 2"/>
              </a:rPr>
              <a:t>ướng</a:t>
            </a:r>
            <a:r>
              <a:rPr lang="en-US" sz="2400" b="1" dirty="0">
                <a:solidFill>
                  <a:srgbClr val="000000"/>
                </a:solidFill>
                <a:latin typeface="Quicksand 2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Quicksand 2"/>
              </a:rPr>
              <a:t>phát</a:t>
            </a:r>
            <a:r>
              <a:rPr lang="en-US" sz="2400" b="1" dirty="0">
                <a:solidFill>
                  <a:srgbClr val="000000"/>
                </a:solidFill>
                <a:latin typeface="Quicksand 2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Quicksand 2"/>
              </a:rPr>
              <a:t>triển</a:t>
            </a:r>
            <a:r>
              <a:rPr lang="vi-VN" sz="2400" b="1" dirty="0">
                <a:solidFill>
                  <a:srgbClr val="000000"/>
                </a:solidFill>
                <a:latin typeface="Quicksand 2"/>
              </a:rPr>
              <a:t>: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Nâng coverage lên ≥ 80%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Quicksand 2"/>
              </a:rPr>
              <a:t>Mở rộng kiểm thử sang các chức năng còn lại trong hệ thống </a:t>
            </a: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algn="just">
              <a:lnSpc>
                <a:spcPts val="4479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Quicksand 2"/>
              <a:ea typeface="Quicksand 2"/>
              <a:cs typeface="Quicksand 2"/>
              <a:sym typeface="Quicksand 2"/>
            </a:endParaRPr>
          </a:p>
        </p:txBody>
      </p:sp>
    </p:spTree>
    <p:extLst>
      <p:ext uri="{BB962C8B-B14F-4D97-AF65-F5344CB8AC3E}">
        <p14:creationId xmlns:p14="http://schemas.microsoft.com/office/powerpoint/2010/main" val="3161836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46123" y="4268737"/>
            <a:ext cx="5213177" cy="5213177"/>
          </a:xfrm>
          <a:custGeom>
            <a:avLst/>
            <a:gdLst/>
            <a:ahLst/>
            <a:cxnLst/>
            <a:rect l="l" t="t" r="r" b="b"/>
            <a:pathLst>
              <a:path w="5213177" h="5213177">
                <a:moveTo>
                  <a:pt x="0" y="0"/>
                </a:moveTo>
                <a:lnTo>
                  <a:pt x="5213177" y="0"/>
                </a:lnTo>
                <a:lnTo>
                  <a:pt x="5213177" y="5213178"/>
                </a:lnTo>
                <a:lnTo>
                  <a:pt x="0" y="5213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4536" y="1336575"/>
            <a:ext cx="5213177" cy="5213177"/>
          </a:xfrm>
          <a:custGeom>
            <a:avLst/>
            <a:gdLst/>
            <a:ahLst/>
            <a:cxnLst/>
            <a:rect l="l" t="t" r="r" b="b"/>
            <a:pathLst>
              <a:path w="5213177" h="5213177">
                <a:moveTo>
                  <a:pt x="0" y="0"/>
                </a:moveTo>
                <a:lnTo>
                  <a:pt x="5213177" y="0"/>
                </a:lnTo>
                <a:lnTo>
                  <a:pt x="5213177" y="5213177"/>
                </a:lnTo>
                <a:lnTo>
                  <a:pt x="0" y="5213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51125" y="1028700"/>
            <a:ext cx="10585751" cy="8142207"/>
          </a:xfrm>
          <a:custGeom>
            <a:avLst/>
            <a:gdLst/>
            <a:ahLst/>
            <a:cxnLst/>
            <a:rect l="l" t="t" r="r" b="b"/>
            <a:pathLst>
              <a:path w="10585751" h="8142207">
                <a:moveTo>
                  <a:pt x="0" y="0"/>
                </a:moveTo>
                <a:lnTo>
                  <a:pt x="10585750" y="0"/>
                </a:lnTo>
                <a:lnTo>
                  <a:pt x="10585750" y="8142207"/>
                </a:lnTo>
                <a:lnTo>
                  <a:pt x="0" y="814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48932" y="2153456"/>
            <a:ext cx="12791629" cy="5980087"/>
          </a:xfrm>
          <a:custGeom>
            <a:avLst/>
            <a:gdLst/>
            <a:ahLst/>
            <a:cxnLst/>
            <a:rect l="l" t="t" r="r" b="b"/>
            <a:pathLst>
              <a:path w="12791629" h="5980087">
                <a:moveTo>
                  <a:pt x="0" y="0"/>
                </a:moveTo>
                <a:lnTo>
                  <a:pt x="12791629" y="0"/>
                </a:lnTo>
                <a:lnTo>
                  <a:pt x="12791629" y="5980086"/>
                </a:lnTo>
                <a:lnTo>
                  <a:pt x="0" y="5980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36875" y="610942"/>
            <a:ext cx="4806702" cy="3085029"/>
          </a:xfrm>
          <a:custGeom>
            <a:avLst/>
            <a:gdLst/>
            <a:ahLst/>
            <a:cxnLst/>
            <a:rect l="l" t="t" r="r" b="b"/>
            <a:pathLst>
              <a:path w="4806702" h="3085029">
                <a:moveTo>
                  <a:pt x="0" y="0"/>
                </a:moveTo>
                <a:lnTo>
                  <a:pt x="4806702" y="0"/>
                </a:lnTo>
                <a:lnTo>
                  <a:pt x="4806702" y="3085029"/>
                </a:lnTo>
                <a:lnTo>
                  <a:pt x="0" y="3085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-581736" y="7201971"/>
            <a:ext cx="4806702" cy="3085029"/>
          </a:xfrm>
          <a:custGeom>
            <a:avLst/>
            <a:gdLst/>
            <a:ahLst/>
            <a:cxnLst/>
            <a:rect l="l" t="t" r="r" b="b"/>
            <a:pathLst>
              <a:path w="4806702" h="3085029">
                <a:moveTo>
                  <a:pt x="4806702" y="3085029"/>
                </a:moveTo>
                <a:lnTo>
                  <a:pt x="0" y="3085029"/>
                </a:lnTo>
                <a:lnTo>
                  <a:pt x="0" y="0"/>
                </a:lnTo>
                <a:lnTo>
                  <a:pt x="4806702" y="0"/>
                </a:lnTo>
                <a:lnTo>
                  <a:pt x="4806702" y="308502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101790" y="3695971"/>
            <a:ext cx="1763203" cy="2103224"/>
          </a:xfrm>
          <a:custGeom>
            <a:avLst/>
            <a:gdLst/>
            <a:ahLst/>
            <a:cxnLst/>
            <a:rect l="l" t="t" r="r" b="b"/>
            <a:pathLst>
              <a:path w="1763203" h="2103224">
                <a:moveTo>
                  <a:pt x="0" y="0"/>
                </a:moveTo>
                <a:lnTo>
                  <a:pt x="1763203" y="0"/>
                </a:lnTo>
                <a:lnTo>
                  <a:pt x="1763203" y="2103224"/>
                </a:lnTo>
                <a:lnTo>
                  <a:pt x="0" y="21032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42881" y="203097"/>
            <a:ext cx="2257669" cy="2648292"/>
          </a:xfrm>
          <a:custGeom>
            <a:avLst/>
            <a:gdLst/>
            <a:ahLst/>
            <a:cxnLst/>
            <a:rect l="l" t="t" r="r" b="b"/>
            <a:pathLst>
              <a:path w="2257669" h="2648292">
                <a:moveTo>
                  <a:pt x="0" y="0"/>
                </a:moveTo>
                <a:lnTo>
                  <a:pt x="2257669" y="0"/>
                </a:lnTo>
                <a:lnTo>
                  <a:pt x="2257669" y="2648291"/>
                </a:lnTo>
                <a:lnTo>
                  <a:pt x="0" y="26482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9815" y="8133543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574286" y="5409245"/>
            <a:ext cx="2173899" cy="1791655"/>
          </a:xfrm>
          <a:custGeom>
            <a:avLst/>
            <a:gdLst/>
            <a:ahLst/>
            <a:cxnLst/>
            <a:rect l="l" t="t" r="r" b="b"/>
            <a:pathLst>
              <a:path w="2173899" h="1791655">
                <a:moveTo>
                  <a:pt x="2173899" y="0"/>
                </a:moveTo>
                <a:lnTo>
                  <a:pt x="0" y="0"/>
                </a:lnTo>
                <a:lnTo>
                  <a:pt x="0" y="1791655"/>
                </a:lnTo>
                <a:lnTo>
                  <a:pt x="2173899" y="1791655"/>
                </a:lnTo>
                <a:lnTo>
                  <a:pt x="2173899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820139" y="3665354"/>
            <a:ext cx="6647722" cy="305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61"/>
              </a:lnSpc>
            </a:pPr>
            <a:r>
              <a:rPr lang="en-US" sz="10783">
                <a:solidFill>
                  <a:srgbClr val="FFE67D"/>
                </a:solidFill>
                <a:latin typeface="More Sugar"/>
                <a:ea typeface="More Sugar"/>
                <a:cs typeface="More Sugar"/>
                <a:sym typeface="More Suga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758</Words>
  <Application>Microsoft Office PowerPoint</Application>
  <PresentationFormat>Custom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Capriola</vt:lpstr>
      <vt:lpstr>DejaVu Serif</vt:lpstr>
      <vt:lpstr>Quicksand 1</vt:lpstr>
      <vt:lpstr>Quicksand 1 Bold</vt:lpstr>
      <vt:lpstr>Quicksand 2</vt:lpstr>
      <vt:lpstr>Arial</vt:lpstr>
      <vt:lpstr>Noto Sans Bold</vt:lpstr>
      <vt:lpstr>Calibri</vt:lpstr>
      <vt:lpstr>More Sugar</vt:lpstr>
      <vt:lpstr>Quicksand 2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COVERAGE</dc:title>
  <cp:lastModifiedBy>Administrator</cp:lastModifiedBy>
  <cp:revision>16</cp:revision>
  <dcterms:created xsi:type="dcterms:W3CDTF">2006-08-16T00:00:00Z</dcterms:created>
  <dcterms:modified xsi:type="dcterms:W3CDTF">2026-03-21T06:05:30Z</dcterms:modified>
  <dc:identifier>DAHEL7Nj4Vk</dc:identifier>
</cp:coreProperties>
</file>